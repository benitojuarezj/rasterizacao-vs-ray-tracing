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667" r:id="rId2"/>
    <p:sldId id="257" r:id="rId3"/>
    <p:sldId id="668" r:id="rId4"/>
    <p:sldId id="672" r:id="rId5"/>
    <p:sldId id="669" r:id="rId6"/>
    <p:sldId id="673" r:id="rId7"/>
    <p:sldId id="670" r:id="rId8"/>
    <p:sldId id="674" r:id="rId9"/>
    <p:sldId id="675" r:id="rId10"/>
    <p:sldId id="671" r:id="rId11"/>
    <p:sldId id="67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86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FF68C-903E-43F2-A714-E79CAFFE46A7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E97E2D-1A41-4120-9C03-518707E185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6268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6778"/>
            <a:ext cx="12192000" cy="6858000"/>
          </a:xfrm>
        </p:spPr>
      </p:pic>
      <p:sp>
        <p:nvSpPr>
          <p:cNvPr id="3090" name="Título do artigo"/>
          <p:cNvSpPr txBox="1">
            <a:spLocks noChangeArrowheads="1"/>
          </p:cNvSpPr>
          <p:nvPr/>
        </p:nvSpPr>
        <p:spPr bwMode="auto">
          <a:xfrm>
            <a:off x="265471" y="1650000"/>
            <a:ext cx="5707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16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Análise comparativa do custo computacional e da complexidade assintótica entre a rasterização tradicional via Z-buffer e o Ray Tracing acelerado por Bounding Volume Hierarchy (BVH) em cenários de alta contagem de polígonos</a:t>
            </a:r>
            <a:endParaRPr lang="pt-BR" altLang="pt-BR" sz="2800" b="1" dirty="0">
              <a:solidFill>
                <a:srgbClr val="002060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471" y="3750000"/>
            <a:ext cx="5707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16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Disciplina: </a:t>
            </a:r>
            <a:r>
              <a:rPr lang="pt-BR" sz="18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COMPUTABILIDADE E COMPLEXIDADE DE ALGORITMOS</a:t>
            </a:r>
            <a:endParaRPr lang="pt-BR" altLang="pt-BR" sz="2800" b="1" dirty="0">
              <a:solidFill>
                <a:srgbClr val="002060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CC8F2196-343D-4DD6-9AFD-DFD2F8C44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3438" y="4650000"/>
            <a:ext cx="323490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2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Profª. Andrea Ono Sakai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2A6A1AF-073B-42AC-8B47-C09121E501B2}"/>
              </a:ext>
            </a:extLst>
          </p:cNvPr>
          <p:cNvSpPr txBox="1"/>
          <p:nvPr/>
        </p:nvSpPr>
        <p:spPr>
          <a:xfrm>
            <a:off x="6566720" y="2226327"/>
            <a:ext cx="4787080" cy="40011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</a:rPr>
              <a:t>Revisão da literatura</a:t>
            </a:r>
            <a:endParaRPr lang="pt-BR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6C7D805C-242A-47B5-A3A7-1E6D5500F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3106889"/>
            <a:ext cx="3373726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GRUPO 8:</a:t>
            </a: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Benito Juarez Jesus Viana Aguiar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Renan Veras de Andrade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Augusto Domingues da Silva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Thiago de Luca Fernandes</a:t>
            </a:r>
          </a:p>
        </p:txBody>
      </p:sp>
    </p:spTree>
    <p:extLst>
      <p:ext uri="{BB962C8B-B14F-4D97-AF65-F5344CB8AC3E}">
        <p14:creationId xmlns:p14="http://schemas.microsoft.com/office/powerpoint/2010/main" val="2038576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ítulo"/>
          <p:cNvSpPr txBox="1"/>
          <p:nvPr/>
        </p:nvSpPr>
        <p:spPr>
          <a:xfrm>
            <a:off x="640080" y="411480"/>
            <a:ext cx="74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1A1A1A"/>
                </a:solidFill>
              </a:rPr>
              <a:t>Roteiro</a:t>
            </a:r>
          </a:p>
        </p:txBody>
      </p:sp>
      <p:sp>
        <p:nvSpPr>
          <p:cNvPr id="22" name="Rótulo Abertura e Objetivos"/>
          <p:cNvSpPr/>
          <p:nvPr/>
        </p:nvSpPr>
        <p:spPr>
          <a:xfrm>
            <a:off x="731520" y="1250000"/>
            <a:ext cx="3700000" cy="90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solidFill>
                  <a:schemeClr val="bg1"/>
                </a:solidFill>
              </a:rPr>
              <a:t>Abertura e Objetivos</a:t>
            </a:r>
          </a:p>
        </p:txBody>
      </p:sp>
      <p:sp>
        <p:nvSpPr>
          <p:cNvPr id="23" name="Texto Abertura e Objetivos"/>
          <p:cNvSpPr/>
          <p:nvPr/>
        </p:nvSpPr>
        <p:spPr>
          <a:xfrm>
            <a:off x="4431520" y="1250000"/>
            <a:ext cx="7089920" cy="9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1A1A1A"/>
                </a:solidFill>
              </a:rPr>
              <a:t>Thiago de Luca Fernandes</a:t>
            </a:r>
          </a:p>
        </p:txBody>
      </p:sp>
      <p:sp>
        <p:nvSpPr>
          <p:cNvPr id="24" name="Rótulo Metodologia e Z-buffer"/>
          <p:cNvSpPr/>
          <p:nvPr/>
        </p:nvSpPr>
        <p:spPr>
          <a:xfrm>
            <a:off x="731520" y="2350000"/>
            <a:ext cx="3700000" cy="90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solidFill>
                  <a:schemeClr val="bg1"/>
                </a:solidFill>
              </a:rPr>
              <a:t>Metodologia e Z-buffer</a:t>
            </a:r>
          </a:p>
        </p:txBody>
      </p:sp>
      <p:sp>
        <p:nvSpPr>
          <p:cNvPr id="25" name="Texto Metodologia e Z-buffer"/>
          <p:cNvSpPr/>
          <p:nvPr/>
        </p:nvSpPr>
        <p:spPr>
          <a:xfrm>
            <a:off x="4431520" y="2350000"/>
            <a:ext cx="7089920" cy="9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1A1A1A"/>
                </a:solidFill>
              </a:rPr>
              <a:t>Benito Juarez Jesus Viana Aguiar</a:t>
            </a:r>
          </a:p>
        </p:txBody>
      </p:sp>
      <p:sp>
        <p:nvSpPr>
          <p:cNvPr id="26" name="Rótulo Hierárquicas e achado"/>
          <p:cNvSpPr/>
          <p:nvPr/>
        </p:nvSpPr>
        <p:spPr>
          <a:xfrm>
            <a:off x="731520" y="3450000"/>
            <a:ext cx="3700000" cy="90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solidFill>
                  <a:schemeClr val="bg1"/>
                </a:solidFill>
              </a:rPr>
              <a:t>Hierárquicas e achado</a:t>
            </a:r>
          </a:p>
        </p:txBody>
      </p:sp>
      <p:sp>
        <p:nvSpPr>
          <p:cNvPr id="27" name="Texto Hierárquicas e achado"/>
          <p:cNvSpPr/>
          <p:nvPr/>
        </p:nvSpPr>
        <p:spPr>
          <a:xfrm>
            <a:off x="4431520" y="3450000"/>
            <a:ext cx="7089920" cy="9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1A1A1A"/>
                </a:solidFill>
              </a:rPr>
              <a:t>Renan Veras de Andrade</a:t>
            </a:r>
          </a:p>
        </p:txBody>
      </p:sp>
      <p:sp>
        <p:nvSpPr>
          <p:cNvPr id="28" name="Rótulo Conclusão e limites"/>
          <p:cNvSpPr/>
          <p:nvPr/>
        </p:nvSpPr>
        <p:spPr>
          <a:xfrm>
            <a:off x="731520" y="4550000"/>
            <a:ext cx="3700000" cy="90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solidFill>
                  <a:schemeClr val="bg1"/>
                </a:solidFill>
              </a:rPr>
              <a:t>Conclusão e limites</a:t>
            </a:r>
          </a:p>
        </p:txBody>
      </p:sp>
      <p:sp>
        <p:nvSpPr>
          <p:cNvPr id="29" name="Texto Conclusão e limites"/>
          <p:cNvSpPr/>
          <p:nvPr/>
        </p:nvSpPr>
        <p:spPr>
          <a:xfrm>
            <a:off x="4431520" y="4550000"/>
            <a:ext cx="7089920" cy="9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1A1A1A"/>
                </a:solidFill>
              </a:rPr>
              <a:t>Augusto Domingues da Silva</a:t>
            </a:r>
          </a:p>
        </p:txBody>
      </p:sp>
      <p:pic>
        <p:nvPicPr>
          <p:cNvPr id="9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54D3309-5FEC-4608-9B04-76EE33AD2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372" y="6364556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E2938B9C-8E3E-482A-B58A-79A3496C7310}"/>
              </a:ext>
            </a:extLst>
          </p:cNvPr>
          <p:cNvSpPr/>
          <p:nvPr/>
        </p:nvSpPr>
        <p:spPr>
          <a:xfrm>
            <a:off x="3688558" y="6283427"/>
            <a:ext cx="8383587" cy="56548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68C4A0C1-469D-4EAD-AB7D-62A2F24CA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2649" y="6446538"/>
            <a:ext cx="8200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COMPUTABILIDADE E COMPLEXIDADE DE ALGORITMOS</a:t>
            </a:r>
            <a:r>
              <a:rPr lang="pt-BR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– </a:t>
            </a:r>
            <a:r>
              <a:rPr lang="pt-BR" sz="10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Grupo 8</a:t>
            </a:r>
            <a:endParaRPr lang="pt-BR" altLang="pt-BR" sz="1200" b="1" dirty="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9065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"/>
          <p:cNvSpPr txBox="1"/>
          <p:nvPr/>
        </p:nvSpPr>
        <p:spPr>
          <a:xfrm>
            <a:off x="640080" y="411480"/>
            <a:ext cx="74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1A1A1A"/>
                </a:solidFill>
              </a:rPr>
              <a:t>Abertura: dois paradigmas</a:t>
            </a:r>
          </a:p>
        </p:txBody>
      </p:sp>
      <p:sp>
        <p:nvSpPr>
          <p:cNvPr id="31" name="Apresentador"/>
          <p:cNvSpPr txBox="1"/>
          <p:nvPr/>
        </p:nvSpPr>
        <p:spPr>
          <a:xfrm>
            <a:off x="8200000" y="520000"/>
            <a:ext cx="335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595959"/>
                </a:solidFill>
              </a:rPr>
              <a:t>Apresenta: Thiago</a:t>
            </a:r>
          </a:p>
        </p:txBody>
      </p:sp>
      <p:sp>
        <p:nvSpPr>
          <p:cNvPr id="32" name="Cabeçalho Z-buffer (rasterização)"/>
          <p:cNvSpPr/>
          <p:nvPr/>
        </p:nvSpPr>
        <p:spPr>
          <a:xfrm>
            <a:off x="731520" y="1150000"/>
            <a:ext cx="5194960" cy="60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solidFill>
                  <a:schemeClr val="bg1"/>
                </a:solidFill>
              </a:rPr>
              <a:t>Z-buffer (rasterização)</a:t>
            </a:r>
          </a:p>
        </p:txBody>
      </p:sp>
      <p:sp>
        <p:nvSpPr>
          <p:cNvPr id="33" name="Corpo Z-buffer (rasterização)"/>
          <p:cNvSpPr/>
          <p:nvPr/>
        </p:nvSpPr>
        <p:spPr>
          <a:xfrm>
            <a:off x="731520" y="1750000"/>
            <a:ext cx="5194960" cy="215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137160" rIns="137160" bIns="9144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pt-BR" sz="2400" dirty="0">
                <a:solidFill>
                  <a:srgbClr val="1A1A1A"/>
                </a:solidFill>
              </a:rPr>
              <a:t>Percorre as primitivas</a:t>
            </a:r>
          </a:p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pt-BR" sz="2400" dirty="0">
                <a:solidFill>
                  <a:srgbClr val="1A1A1A"/>
                </a:solidFill>
              </a:rPr>
              <a:t>Custo O(N) nas primitivas</a:t>
            </a:r>
          </a:p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pt-BR" sz="2400" dirty="0">
                <a:solidFill>
                  <a:srgbClr val="1A1A1A"/>
                </a:solidFill>
              </a:rPr>
              <a:t>Memória O(W × H)</a:t>
            </a:r>
          </a:p>
        </p:txBody>
      </p:sp>
      <p:sp>
        <p:nvSpPr>
          <p:cNvPr id="34" name="Cabeçalho Ray tracing com BVH"/>
          <p:cNvSpPr/>
          <p:nvPr/>
        </p:nvSpPr>
        <p:spPr>
          <a:xfrm>
            <a:off x="6326480" y="1150000"/>
            <a:ext cx="5194960" cy="60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solidFill>
                  <a:schemeClr val="bg1"/>
                </a:solidFill>
              </a:rPr>
              <a:t>Ray tracing com BVH</a:t>
            </a:r>
          </a:p>
        </p:txBody>
      </p:sp>
      <p:sp>
        <p:nvSpPr>
          <p:cNvPr id="35" name="Corpo Ray tracing com BVH"/>
          <p:cNvSpPr/>
          <p:nvPr/>
        </p:nvSpPr>
        <p:spPr>
          <a:xfrm>
            <a:off x="6326480" y="1750000"/>
            <a:ext cx="5194960" cy="215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137160" rIns="137160" bIns="9144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pt-BR" sz="2400" dirty="0">
                <a:solidFill>
                  <a:srgbClr val="1A1A1A"/>
                </a:solidFill>
              </a:rPr>
              <a:t>Percorre os pixels e lança raios</a:t>
            </a:r>
          </a:p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pt-BR" sz="2400" dirty="0">
                <a:solidFill>
                  <a:srgbClr val="1A1A1A"/>
                </a:solidFill>
              </a:rPr>
              <a:t>Custo por raio tende a O(log N)</a:t>
            </a:r>
          </a:p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pt-BR" sz="2400" dirty="0">
                <a:solidFill>
                  <a:srgbClr val="1A1A1A"/>
                </a:solidFill>
              </a:rPr>
              <a:t>Memória extra e atualização em cena dinâmica</a:t>
            </a:r>
          </a:p>
        </p:txBody>
      </p:sp>
      <p:sp>
        <p:nvSpPr>
          <p:cNvPr id="36" name="Destaque"/>
          <p:cNvSpPr/>
          <p:nvPr/>
        </p:nvSpPr>
        <p:spPr>
          <a:xfrm>
            <a:off x="731520" y="4300000"/>
            <a:ext cx="10789920" cy="1000000"/>
          </a:xfrm>
          <a:prstGeom prst="rect">
            <a:avLst/>
          </a:prstGeom>
          <a:solidFill>
            <a:srgbClr val="FDE3CF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solidFill>
                  <a:srgbClr val="5A2A00"/>
                </a:solidFill>
              </a:rPr>
              <a:t>Lacuna: o ponto de virada não tem definição matemática</a:t>
            </a:r>
          </a:p>
        </p:txBody>
      </p:sp>
      <p:sp>
        <p:nvSpPr>
          <p:cNvPr id="37" name="Fonte"/>
          <p:cNvSpPr txBox="1"/>
          <p:nvPr/>
        </p:nvSpPr>
        <p:spPr>
          <a:xfrm>
            <a:off x="731520" y="5850000"/>
            <a:ext cx="107899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595959"/>
                </a:solidFill>
              </a:rPr>
              <a:t>Fonte: artigo do grupo (Introdução)</a:t>
            </a:r>
          </a:p>
        </p:txBody>
      </p:sp>
      <p:pic>
        <p:nvPicPr>
          <p:cNvPr id="9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54D3309-5FEC-4608-9B04-76EE33AD2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372" y="6364556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E2938B9C-8E3E-482A-B58A-79A3496C7310}"/>
              </a:ext>
            </a:extLst>
          </p:cNvPr>
          <p:cNvSpPr/>
          <p:nvPr/>
        </p:nvSpPr>
        <p:spPr>
          <a:xfrm>
            <a:off x="3688558" y="6283427"/>
            <a:ext cx="8383587" cy="56548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68C4A0C1-469D-4EAD-AB7D-62A2F24CA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2649" y="6446538"/>
            <a:ext cx="8200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COMPUTABILIDADE E COMPLEXIDADE DE ALGORITMOS</a:t>
            </a:r>
            <a:r>
              <a:rPr lang="pt-BR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– </a:t>
            </a:r>
            <a:r>
              <a:rPr lang="pt-BR" sz="10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Grupo 8</a:t>
            </a:r>
            <a:endParaRPr lang="pt-BR" altLang="pt-BR" sz="1200" b="1" dirty="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9065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ítulo"/>
          <p:cNvSpPr txBox="1"/>
          <p:nvPr/>
        </p:nvSpPr>
        <p:spPr>
          <a:xfrm>
            <a:off x="640080" y="411480"/>
            <a:ext cx="74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1A1A1A"/>
                </a:solidFill>
              </a:rPr>
              <a:t>Objetivos</a:t>
            </a:r>
          </a:p>
        </p:txBody>
      </p:sp>
      <p:sp>
        <p:nvSpPr>
          <p:cNvPr id="39" name="Apresentador"/>
          <p:cNvSpPr txBox="1"/>
          <p:nvPr/>
        </p:nvSpPr>
        <p:spPr>
          <a:xfrm>
            <a:off x="8200000" y="520000"/>
            <a:ext cx="335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595959"/>
                </a:solidFill>
              </a:rPr>
              <a:t>Apresenta: Thiago</a:t>
            </a:r>
          </a:p>
        </p:txBody>
      </p:sp>
      <p:sp>
        <p:nvSpPr>
          <p:cNvPr id="40" name="Rótulo Pergunta"/>
          <p:cNvSpPr/>
          <p:nvPr/>
        </p:nvSpPr>
        <p:spPr>
          <a:xfrm>
            <a:off x="731520" y="1250000"/>
            <a:ext cx="2900000" cy="125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solidFill>
                  <a:schemeClr val="bg1"/>
                </a:solidFill>
              </a:rPr>
              <a:t>Pergunta</a:t>
            </a:r>
          </a:p>
        </p:txBody>
      </p:sp>
      <p:sp>
        <p:nvSpPr>
          <p:cNvPr id="41" name="Texto Pergunta"/>
          <p:cNvSpPr/>
          <p:nvPr/>
        </p:nvSpPr>
        <p:spPr>
          <a:xfrm>
            <a:off x="3631520" y="1250000"/>
            <a:ext cx="7889920" cy="125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1A1A1A"/>
                </a:solidFill>
              </a:rPr>
              <a:t>Como a complexidade e a memória divergem entre Z-buffer e BVH quando as primitivas crescem?</a:t>
            </a:r>
          </a:p>
        </p:txBody>
      </p:sp>
      <p:sp>
        <p:nvSpPr>
          <p:cNvPr id="42" name="Rótulo Objetivo geral"/>
          <p:cNvSpPr/>
          <p:nvPr/>
        </p:nvSpPr>
        <p:spPr>
          <a:xfrm>
            <a:off x="731520" y="2700000"/>
            <a:ext cx="2900000" cy="125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solidFill>
                  <a:schemeClr val="bg1"/>
                </a:solidFill>
              </a:rPr>
              <a:t>Objetivo geral</a:t>
            </a:r>
          </a:p>
        </p:txBody>
      </p:sp>
      <p:sp>
        <p:nvSpPr>
          <p:cNvPr id="43" name="Texto Objetivo geral"/>
          <p:cNvSpPr/>
          <p:nvPr/>
        </p:nvSpPr>
        <p:spPr>
          <a:xfrm>
            <a:off x="3631520" y="2700000"/>
            <a:ext cx="7889920" cy="125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1A1A1A"/>
                </a:solidFill>
              </a:rPr>
              <a:t>Comparar as duas estruturas a partir de 5 estudos</a:t>
            </a:r>
          </a:p>
        </p:txBody>
      </p:sp>
      <p:sp>
        <p:nvSpPr>
          <p:cNvPr id="44" name="Rótulo Não atendido"/>
          <p:cNvSpPr/>
          <p:nvPr/>
        </p:nvSpPr>
        <p:spPr>
          <a:xfrm>
            <a:off x="731520" y="4150000"/>
            <a:ext cx="2900000" cy="125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solidFill>
                  <a:schemeClr val="bg1"/>
                </a:solidFill>
              </a:rPr>
              <a:t>Não atendido</a:t>
            </a:r>
          </a:p>
        </p:txBody>
      </p:sp>
      <p:sp>
        <p:nvSpPr>
          <p:cNvPr id="45" name="Texto Não atendido"/>
          <p:cNvSpPr/>
          <p:nvPr/>
        </p:nvSpPr>
        <p:spPr>
          <a:xfrm>
            <a:off x="3631520" y="4150000"/>
            <a:ext cx="7889920" cy="125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1A1A1A"/>
                </a:solidFill>
              </a:rPr>
              <a:t>Ponto de interseção entre as técnicas</a:t>
            </a:r>
          </a:p>
        </p:txBody>
      </p:sp>
      <p:sp>
        <p:nvSpPr>
          <p:cNvPr id="46" name="Fonte"/>
          <p:cNvSpPr txBox="1"/>
          <p:nvPr/>
        </p:nvSpPr>
        <p:spPr>
          <a:xfrm>
            <a:off x="731520" y="5850000"/>
            <a:ext cx="107899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595959"/>
                </a:solidFill>
              </a:rPr>
              <a:t>Fonte: Etapas 2 e 3 do trabalho; artigo do grupo (Considerações finais)</a:t>
            </a:r>
          </a:p>
        </p:txBody>
      </p:sp>
      <p:pic>
        <p:nvPicPr>
          <p:cNvPr id="9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54D3309-5FEC-4608-9B04-76EE33AD2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372" y="6364556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E2938B9C-8E3E-482A-B58A-79A3496C7310}"/>
              </a:ext>
            </a:extLst>
          </p:cNvPr>
          <p:cNvSpPr/>
          <p:nvPr/>
        </p:nvSpPr>
        <p:spPr>
          <a:xfrm>
            <a:off x="3688558" y="6283427"/>
            <a:ext cx="8383587" cy="56548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68C4A0C1-469D-4EAD-AB7D-62A2F24CA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2649" y="6446538"/>
            <a:ext cx="8200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COMPUTABILIDADE E COMPLEXIDADE DE ALGORITMOS</a:t>
            </a:r>
            <a:r>
              <a:rPr lang="pt-BR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– </a:t>
            </a:r>
            <a:r>
              <a:rPr lang="pt-BR" sz="10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Grupo 8</a:t>
            </a:r>
            <a:endParaRPr lang="pt-BR" altLang="pt-BR" sz="1200" b="1" dirty="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9065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ítulo"/>
          <p:cNvSpPr txBox="1"/>
          <p:nvPr/>
        </p:nvSpPr>
        <p:spPr>
          <a:xfrm>
            <a:off x="640080" y="411480"/>
            <a:ext cx="74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1A1A1A"/>
                </a:solidFill>
              </a:rPr>
              <a:t>Metodologia</a:t>
            </a:r>
          </a:p>
        </p:txBody>
      </p:sp>
      <p:sp>
        <p:nvSpPr>
          <p:cNvPr id="52" name="Apresentador"/>
          <p:cNvSpPr txBox="1"/>
          <p:nvPr/>
        </p:nvSpPr>
        <p:spPr>
          <a:xfrm>
            <a:off x="8200000" y="520000"/>
            <a:ext cx="335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595959"/>
                </a:solidFill>
              </a:rPr>
              <a:t>Apresenta: Benito</a:t>
            </a:r>
          </a:p>
        </p:txBody>
      </p:sp>
      <p:sp>
        <p:nvSpPr>
          <p:cNvPr id="53" name="Texto"/>
          <p:cNvSpPr txBox="1"/>
          <p:nvPr/>
        </p:nvSpPr>
        <p:spPr>
          <a:xfrm>
            <a:off x="731520" y="1100000"/>
            <a:ext cx="10789920" cy="2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pt-BR" sz="2000" dirty="0">
                <a:solidFill>
                  <a:srgbClr val="1A1A1A"/>
                </a:solidFill>
              </a:rPr>
              <a:t>Revisão bibliográfica qualitativa, por eixos</a:t>
            </a:r>
          </a:p>
          <a:p>
            <a:pPr marL="342900" indent="-34290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pt-BR" sz="2000" dirty="0">
                <a:solidFill>
                  <a:srgbClr val="1A1A1A"/>
                </a:solidFill>
              </a:rPr>
              <a:t>Busca em 16/09/2026: IEEE Xplore, ACM DL e Scopus</a:t>
            </a:r>
          </a:p>
          <a:p>
            <a:pPr marL="342900" indent="-34290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pt-BR" sz="2000" dirty="0">
                <a:solidFill>
                  <a:srgbClr val="1A1A1A"/>
                </a:solidFill>
              </a:rPr>
              <a:t>Os números dos estudos não são comparados entre si</a:t>
            </a:r>
          </a:p>
        </p:txBody>
      </p:sp>
      <p:sp>
        <p:nvSpPr>
          <p:cNvPr id="47" name="Número 431"/>
          <p:cNvSpPr/>
          <p:nvPr/>
        </p:nvSpPr>
        <p:spPr>
          <a:xfrm>
            <a:off x="731520" y="3450000"/>
            <a:ext cx="2472480" cy="21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b="1" dirty="0">
                <a:solidFill>
                  <a:schemeClr val="accent1">
                    <a:lumMod val="50000"/>
                  </a:schemeClr>
                </a:solidFill>
              </a:rPr>
              <a:t>431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1A1A1A"/>
                </a:solidFill>
              </a:rPr>
              <a:t>resultados</a:t>
            </a:r>
          </a:p>
        </p:txBody>
      </p:sp>
      <p:sp>
        <p:nvSpPr>
          <p:cNvPr id="48" name="Número 389"/>
          <p:cNvSpPr/>
          <p:nvPr/>
        </p:nvSpPr>
        <p:spPr>
          <a:xfrm>
            <a:off x="3504000" y="3450000"/>
            <a:ext cx="2472480" cy="21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b="1" dirty="0">
                <a:solidFill>
                  <a:schemeClr val="accent1">
                    <a:lumMod val="50000"/>
                  </a:schemeClr>
                </a:solidFill>
              </a:rPr>
              <a:t>389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1A1A1A"/>
                </a:solidFill>
              </a:rPr>
              <a:t>triados (42 duplicatas removidas)</a:t>
            </a:r>
          </a:p>
        </p:txBody>
      </p:sp>
      <p:sp>
        <p:nvSpPr>
          <p:cNvPr id="49" name="Número 18"/>
          <p:cNvSpPr/>
          <p:nvPr/>
        </p:nvSpPr>
        <p:spPr>
          <a:xfrm>
            <a:off x="6276480" y="3450000"/>
            <a:ext cx="2472480" cy="21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b="1" dirty="0">
                <a:solidFill>
                  <a:schemeClr val="accent1">
                    <a:lumMod val="50000"/>
                  </a:schemeClr>
                </a:solidFill>
              </a:rPr>
              <a:t>18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1A1A1A"/>
                </a:solidFill>
              </a:rPr>
              <a:t>lidos na íntegra</a:t>
            </a:r>
          </a:p>
        </p:txBody>
      </p:sp>
      <p:sp>
        <p:nvSpPr>
          <p:cNvPr id="50" name="Número 5"/>
          <p:cNvSpPr/>
          <p:nvPr/>
        </p:nvSpPr>
        <p:spPr>
          <a:xfrm>
            <a:off x="9048960" y="3450000"/>
            <a:ext cx="2472480" cy="210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b="1" dirty="0">
                <a:solidFill>
                  <a:schemeClr val="bg1"/>
                </a:solidFill>
              </a:rP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bg1"/>
                </a:solidFill>
              </a:rPr>
              <a:t>incluídos (2006 a 2021)</a:t>
            </a:r>
          </a:p>
        </p:txBody>
      </p:sp>
      <p:sp>
        <p:nvSpPr>
          <p:cNvPr id="54" name="Fonte"/>
          <p:cNvSpPr txBox="1"/>
          <p:nvPr/>
        </p:nvSpPr>
        <p:spPr>
          <a:xfrm>
            <a:off x="731520" y="5850000"/>
            <a:ext cx="107899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595959"/>
                </a:solidFill>
              </a:rPr>
              <a:t>Fonte: artigo do grupo (Metodologia); Etapa 5 do trabalho</a:t>
            </a:r>
          </a:p>
        </p:txBody>
      </p:sp>
      <p:pic>
        <p:nvPicPr>
          <p:cNvPr id="9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54D3309-5FEC-4608-9B04-76EE33AD2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372" y="6364556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E2938B9C-8E3E-482A-B58A-79A3496C7310}"/>
              </a:ext>
            </a:extLst>
          </p:cNvPr>
          <p:cNvSpPr/>
          <p:nvPr/>
        </p:nvSpPr>
        <p:spPr>
          <a:xfrm>
            <a:off x="3688558" y="6283427"/>
            <a:ext cx="8383587" cy="56548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68C4A0C1-469D-4EAD-AB7D-62A2F24CA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2649" y="6446538"/>
            <a:ext cx="8200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COMPUTABILIDADE E COMPLEXIDADE DE ALGORITMOS</a:t>
            </a:r>
            <a:r>
              <a:rPr lang="pt-BR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– </a:t>
            </a:r>
            <a:r>
              <a:rPr lang="pt-BR" sz="10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Grupo 8</a:t>
            </a:r>
            <a:endParaRPr lang="pt-BR" altLang="pt-BR" sz="1200" b="1" dirty="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9065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ítulo"/>
          <p:cNvSpPr txBox="1"/>
          <p:nvPr/>
        </p:nvSpPr>
        <p:spPr>
          <a:xfrm>
            <a:off x="640080" y="411480"/>
            <a:ext cx="74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1A1A1A"/>
                </a:solidFill>
              </a:rPr>
              <a:t>Resultados: Z-buffer</a:t>
            </a:r>
          </a:p>
        </p:txBody>
      </p:sp>
      <p:sp>
        <p:nvSpPr>
          <p:cNvPr id="56" name="Apresentador"/>
          <p:cNvSpPr txBox="1"/>
          <p:nvPr/>
        </p:nvSpPr>
        <p:spPr>
          <a:xfrm>
            <a:off x="8200000" y="520000"/>
            <a:ext cx="335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595959"/>
                </a:solidFill>
              </a:rPr>
              <a:t>Apresenta: Benito</a:t>
            </a:r>
          </a:p>
        </p:txBody>
      </p:sp>
      <p:sp>
        <p:nvSpPr>
          <p:cNvPr id="57" name="Rótulo Lambru (2021)"/>
          <p:cNvSpPr/>
          <p:nvPr/>
        </p:nvSpPr>
        <p:spPr>
          <a:xfrm>
            <a:off x="731520" y="1250000"/>
            <a:ext cx="2900000" cy="125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solidFill>
                  <a:schemeClr val="bg1"/>
                </a:solidFill>
              </a:rPr>
              <a:t>Lambru (2021)</a:t>
            </a:r>
          </a:p>
        </p:txBody>
      </p:sp>
      <p:sp>
        <p:nvSpPr>
          <p:cNvPr id="58" name="Texto Lambru (2021)"/>
          <p:cNvSpPr/>
          <p:nvPr/>
        </p:nvSpPr>
        <p:spPr>
          <a:xfrm>
            <a:off x="3631520" y="1250000"/>
            <a:ext cx="7889920" cy="125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1A1A1A"/>
                </a:solidFill>
              </a:rPr>
              <a:t>RSM cai quase pela metade de 512² para 1024², com polígonos fixos</a:t>
            </a:r>
          </a:p>
        </p:txBody>
      </p:sp>
      <p:sp>
        <p:nvSpPr>
          <p:cNvPr id="59" name="Rótulo Wyman (2016)"/>
          <p:cNvSpPr/>
          <p:nvPr/>
        </p:nvSpPr>
        <p:spPr>
          <a:xfrm>
            <a:off x="731520" y="2700000"/>
            <a:ext cx="2900000" cy="125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solidFill>
                  <a:schemeClr val="bg1"/>
                </a:solidFill>
              </a:rPr>
              <a:t>Wyman (2016)</a:t>
            </a:r>
          </a:p>
        </p:txBody>
      </p:sp>
      <p:sp>
        <p:nvSpPr>
          <p:cNvPr id="60" name="Texto Wyman (2016)"/>
          <p:cNvSpPr/>
          <p:nvPr/>
        </p:nvSpPr>
        <p:spPr>
          <a:xfrm>
            <a:off x="3631520" y="2700000"/>
            <a:ext cx="7889920" cy="125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1A1A1A"/>
                </a:solidFill>
              </a:rPr>
              <a:t>Custo O(N) em fragmentos × tamanho das listas; 1080p para 2160p custa cerca de 2×</a:t>
            </a:r>
          </a:p>
        </p:txBody>
      </p:sp>
      <p:sp>
        <p:nvSpPr>
          <p:cNvPr id="61" name="Rótulo Ritschel (2012)"/>
          <p:cNvSpPr/>
          <p:nvPr/>
        </p:nvSpPr>
        <p:spPr>
          <a:xfrm>
            <a:off x="731520" y="4150000"/>
            <a:ext cx="2900000" cy="125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solidFill>
                  <a:schemeClr val="bg1"/>
                </a:solidFill>
              </a:rPr>
              <a:t>Ritschel (2012)</a:t>
            </a:r>
          </a:p>
        </p:txBody>
      </p:sp>
      <p:sp>
        <p:nvSpPr>
          <p:cNvPr id="62" name="Texto Ritschel (2012)"/>
          <p:cNvSpPr/>
          <p:nvPr/>
        </p:nvSpPr>
        <p:spPr>
          <a:xfrm>
            <a:off x="3631520" y="4150000"/>
            <a:ext cx="7889920" cy="125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1A1A1A"/>
                </a:solidFill>
              </a:rPr>
              <a:t>Espaço de tela trabalha com informação incompleta</a:t>
            </a:r>
          </a:p>
        </p:txBody>
      </p:sp>
      <p:sp>
        <p:nvSpPr>
          <p:cNvPr id="63" name="Fonte"/>
          <p:cNvSpPr txBox="1"/>
          <p:nvPr/>
        </p:nvSpPr>
        <p:spPr>
          <a:xfrm>
            <a:off x="731520" y="5850000"/>
            <a:ext cx="107899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595959"/>
                </a:solidFill>
              </a:rPr>
              <a:t>Fonte: Lambru et al. (2021); Wyman et al. (2016; leitura na versão I3D 2015); Ritschel et al. (2012)</a:t>
            </a:r>
          </a:p>
        </p:txBody>
      </p:sp>
      <p:pic>
        <p:nvPicPr>
          <p:cNvPr id="9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54D3309-5FEC-4608-9B04-76EE33AD2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372" y="6364556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E2938B9C-8E3E-482A-B58A-79A3496C7310}"/>
              </a:ext>
            </a:extLst>
          </p:cNvPr>
          <p:cNvSpPr/>
          <p:nvPr/>
        </p:nvSpPr>
        <p:spPr>
          <a:xfrm>
            <a:off x="3688558" y="6283427"/>
            <a:ext cx="8383587" cy="56548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68C4A0C1-469D-4EAD-AB7D-62A2F24CA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2649" y="6446538"/>
            <a:ext cx="8200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COMPUTABILIDADE E COMPLEXIDADE DE ALGORITMOS</a:t>
            </a:r>
            <a:r>
              <a:rPr lang="pt-BR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– </a:t>
            </a:r>
            <a:r>
              <a:rPr lang="pt-BR" sz="10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Grupo 8</a:t>
            </a:r>
            <a:endParaRPr lang="pt-BR" altLang="pt-BR" sz="1200" b="1" dirty="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9065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ítulo"/>
          <p:cNvSpPr txBox="1"/>
          <p:nvPr/>
        </p:nvSpPr>
        <p:spPr>
          <a:xfrm>
            <a:off x="640080" y="411480"/>
            <a:ext cx="74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1A1A1A"/>
                </a:solidFill>
              </a:rPr>
              <a:t>Resultados: estruturas hierárquicas</a:t>
            </a:r>
          </a:p>
        </p:txBody>
      </p:sp>
      <p:sp>
        <p:nvSpPr>
          <p:cNvPr id="65" name="Apresentador"/>
          <p:cNvSpPr txBox="1"/>
          <p:nvPr/>
        </p:nvSpPr>
        <p:spPr>
          <a:xfrm>
            <a:off x="8200000" y="520000"/>
            <a:ext cx="335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595959"/>
                </a:solidFill>
              </a:rPr>
              <a:t>Apresenta: Renan</a:t>
            </a:r>
          </a:p>
        </p:txBody>
      </p:sp>
      <p:sp>
        <p:nvSpPr>
          <p:cNvPr id="66" name="Rótulo Woop (2006)"/>
          <p:cNvSpPr/>
          <p:nvPr/>
        </p:nvSpPr>
        <p:spPr>
          <a:xfrm>
            <a:off x="731520" y="1250000"/>
            <a:ext cx="2900000" cy="125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solidFill>
                  <a:schemeClr val="bg1"/>
                </a:solidFill>
              </a:rPr>
              <a:t>Woop (2006)</a:t>
            </a:r>
          </a:p>
        </p:txBody>
      </p:sp>
      <p:sp>
        <p:nvSpPr>
          <p:cNvPr id="67" name="Texto Woop (2006)"/>
          <p:cNvSpPr/>
          <p:nvPr/>
        </p:nvSpPr>
        <p:spPr>
          <a:xfrm>
            <a:off x="3631520" y="1250000"/>
            <a:ext cx="7889920" cy="125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1A1A1A"/>
                </a:solidFill>
              </a:rPr>
              <a:t>Árvore B-KD, tipo de BVH; banda de DRAM baixa (73 a 210 MB/s); só movimentos coerentes</a:t>
            </a:r>
          </a:p>
        </p:txBody>
      </p:sp>
      <p:sp>
        <p:nvSpPr>
          <p:cNvPr id="68" name="Rótulo Crassin (2011)"/>
          <p:cNvSpPr/>
          <p:nvPr/>
        </p:nvSpPr>
        <p:spPr>
          <a:xfrm>
            <a:off x="731520" y="2700000"/>
            <a:ext cx="2900000" cy="125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solidFill>
                  <a:schemeClr val="bg1"/>
                </a:solidFill>
              </a:rPr>
              <a:t>Crassin (2011)</a:t>
            </a:r>
          </a:p>
        </p:txBody>
      </p:sp>
      <p:sp>
        <p:nvSpPr>
          <p:cNvPr id="69" name="Texto Crassin (2011)"/>
          <p:cNvSpPr/>
          <p:nvPr/>
        </p:nvSpPr>
        <p:spPr>
          <a:xfrm>
            <a:off x="3631520" y="2700000"/>
            <a:ext cx="7889920" cy="125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1A1A1A"/>
                </a:solidFill>
              </a:rPr>
              <a:t>Octree esparsa; 11,4 a 30 FPS; cerca de 5,5 ms por objeto dinâmico; limite de cerca de 1 GB</a:t>
            </a:r>
          </a:p>
        </p:txBody>
      </p:sp>
      <p:sp>
        <p:nvSpPr>
          <p:cNvPr id="70" name="Rótulo Complementares"/>
          <p:cNvSpPr/>
          <p:nvPr/>
        </p:nvSpPr>
        <p:spPr>
          <a:xfrm>
            <a:off x="731520" y="4150000"/>
            <a:ext cx="2900000" cy="125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solidFill>
                  <a:schemeClr val="bg1"/>
                </a:solidFill>
              </a:rPr>
              <a:t>Complementares</a:t>
            </a:r>
          </a:p>
        </p:txBody>
      </p:sp>
      <p:sp>
        <p:nvSpPr>
          <p:cNvPr id="71" name="Texto Complementares"/>
          <p:cNvSpPr/>
          <p:nvPr/>
        </p:nvSpPr>
        <p:spPr>
          <a:xfrm>
            <a:off x="3631520" y="4150000"/>
            <a:ext cx="7889920" cy="125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1A1A1A"/>
                </a:solidFill>
              </a:rPr>
              <a:t>Lambru: Voxel Cone Tracing de 145 para 89 FPS (64³ a 512³); Ritschel: divergência na GPU</a:t>
            </a:r>
          </a:p>
        </p:txBody>
      </p:sp>
      <p:sp>
        <p:nvSpPr>
          <p:cNvPr id="72" name="Fonte"/>
          <p:cNvSpPr txBox="1"/>
          <p:nvPr/>
        </p:nvSpPr>
        <p:spPr>
          <a:xfrm>
            <a:off x="731520" y="5850000"/>
            <a:ext cx="107899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595959"/>
                </a:solidFill>
              </a:rPr>
              <a:t>Fonte: Woop et al. (2006); Crassin et al. (2011); Lambru et al. (2021); Ritschel et al. (2012)</a:t>
            </a:r>
          </a:p>
        </p:txBody>
      </p:sp>
      <p:pic>
        <p:nvPicPr>
          <p:cNvPr id="9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54D3309-5FEC-4608-9B04-76EE33AD2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372" y="6364556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E2938B9C-8E3E-482A-B58A-79A3496C7310}"/>
              </a:ext>
            </a:extLst>
          </p:cNvPr>
          <p:cNvSpPr/>
          <p:nvPr/>
        </p:nvSpPr>
        <p:spPr>
          <a:xfrm>
            <a:off x="3688558" y="6283427"/>
            <a:ext cx="8383587" cy="56548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68C4A0C1-469D-4EAD-AB7D-62A2F24CA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2649" y="6446538"/>
            <a:ext cx="8200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COMPUTABILIDADE E COMPLEXIDADE DE ALGORITMOS</a:t>
            </a:r>
            <a:r>
              <a:rPr lang="pt-BR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– </a:t>
            </a:r>
            <a:r>
              <a:rPr lang="pt-BR" sz="10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Grupo 8</a:t>
            </a:r>
            <a:endParaRPr lang="pt-BR" altLang="pt-BR" sz="1200" b="1" dirty="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9065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ítulo"/>
          <p:cNvSpPr txBox="1"/>
          <p:nvPr/>
        </p:nvSpPr>
        <p:spPr>
          <a:xfrm>
            <a:off x="640080" y="411480"/>
            <a:ext cx="74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1A1A1A"/>
                </a:solidFill>
              </a:rPr>
              <a:t>Achado central</a:t>
            </a:r>
          </a:p>
        </p:txBody>
      </p:sp>
      <p:sp>
        <p:nvSpPr>
          <p:cNvPr id="79" name="Apresentador"/>
          <p:cNvSpPr txBox="1"/>
          <p:nvPr/>
        </p:nvSpPr>
        <p:spPr>
          <a:xfrm>
            <a:off x="8200000" y="520000"/>
            <a:ext cx="335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595959"/>
                </a:solidFill>
              </a:rPr>
              <a:t>Apresenta: Renan</a:t>
            </a:r>
          </a:p>
        </p:txBody>
      </p:sp>
      <p:sp>
        <p:nvSpPr>
          <p:cNvPr id="80" name="Frase"/>
          <p:cNvSpPr txBox="1"/>
          <p:nvPr/>
        </p:nvSpPr>
        <p:spPr>
          <a:xfrm>
            <a:off x="731520" y="1100000"/>
            <a:ext cx="1078992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 dirty="0">
                <a:solidFill>
                  <a:schemeClr val="accent1">
                    <a:lumMod val="50000"/>
                  </a:schemeClr>
                </a:solidFill>
              </a:rPr>
              <a:t>Cada estudo aponta um gargalo diferente</a:t>
            </a:r>
          </a:p>
        </p:txBody>
      </p:sp>
      <p:sp>
        <p:nvSpPr>
          <p:cNvPr id="73" name="Estudo Lambru"/>
          <p:cNvSpPr/>
          <p:nvPr/>
        </p:nvSpPr>
        <p:spPr>
          <a:xfrm>
            <a:off x="731520" y="2000000"/>
            <a:ext cx="1997984" cy="20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1800" b="1" dirty="0">
                <a:solidFill>
                  <a:schemeClr val="accent1">
                    <a:lumMod val="50000"/>
                  </a:schemeClr>
                </a:solidFill>
              </a:rPr>
              <a:t>Lambru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1A1A1A"/>
                </a:solidFill>
              </a:rPr>
              <a:t>Cache da TMU</a:t>
            </a:r>
          </a:p>
        </p:txBody>
      </p:sp>
      <p:sp>
        <p:nvSpPr>
          <p:cNvPr id="74" name="Estudo Wyman"/>
          <p:cNvSpPr/>
          <p:nvPr/>
        </p:nvSpPr>
        <p:spPr>
          <a:xfrm>
            <a:off x="2929504" y="2000000"/>
            <a:ext cx="1997984" cy="20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1800" b="1" dirty="0">
                <a:solidFill>
                  <a:schemeClr val="accent1">
                    <a:lumMod val="50000"/>
                  </a:schemeClr>
                </a:solidFill>
              </a:rPr>
              <a:t>Wyman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1A1A1A"/>
                </a:solidFill>
              </a:rPr>
              <a:t>Contenção atômica</a:t>
            </a:r>
          </a:p>
        </p:txBody>
      </p:sp>
      <p:sp>
        <p:nvSpPr>
          <p:cNvPr id="75" name="Estudo Woop"/>
          <p:cNvSpPr/>
          <p:nvPr/>
        </p:nvSpPr>
        <p:spPr>
          <a:xfrm>
            <a:off x="5127488" y="2000000"/>
            <a:ext cx="1997984" cy="20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1800" b="1" dirty="0">
                <a:solidFill>
                  <a:schemeClr val="accent1">
                    <a:lumMod val="50000"/>
                  </a:schemeClr>
                </a:solidFill>
              </a:rPr>
              <a:t>Woop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1A1A1A"/>
                </a:solidFill>
              </a:rPr>
              <a:t>Movimentos coerentes</a:t>
            </a:r>
          </a:p>
        </p:txBody>
      </p:sp>
      <p:sp>
        <p:nvSpPr>
          <p:cNvPr id="76" name="Estudo Crassin"/>
          <p:cNvSpPr/>
          <p:nvPr/>
        </p:nvSpPr>
        <p:spPr>
          <a:xfrm>
            <a:off x="7325472" y="2000000"/>
            <a:ext cx="1997984" cy="20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1800" b="1" dirty="0">
                <a:solidFill>
                  <a:schemeClr val="accent1">
                    <a:lumMod val="50000"/>
                  </a:schemeClr>
                </a:solidFill>
              </a:rPr>
              <a:t>Crassin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1A1A1A"/>
                </a:solidFill>
              </a:rPr>
              <a:t>Memória e atualização</a:t>
            </a:r>
          </a:p>
        </p:txBody>
      </p:sp>
      <p:sp>
        <p:nvSpPr>
          <p:cNvPr id="77" name="Estudo Ritschel"/>
          <p:cNvSpPr/>
          <p:nvPr/>
        </p:nvSpPr>
        <p:spPr>
          <a:xfrm>
            <a:off x="9523456" y="2000000"/>
            <a:ext cx="1997984" cy="20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1800" b="1" dirty="0">
                <a:solidFill>
                  <a:schemeClr val="accent1">
                    <a:lumMod val="50000"/>
                  </a:schemeClr>
                </a:solidFill>
              </a:rPr>
              <a:t>Ritschel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1A1A1A"/>
                </a:solidFill>
              </a:rPr>
              <a:t>Divergência de execução</a:t>
            </a:r>
          </a:p>
        </p:txBody>
      </p:sp>
      <p:sp>
        <p:nvSpPr>
          <p:cNvPr id="81" name="Convergência"/>
          <p:cNvSpPr/>
          <p:nvPr/>
        </p:nvSpPr>
        <p:spPr>
          <a:xfrm>
            <a:off x="731520" y="4350000"/>
            <a:ext cx="10789920" cy="1100000"/>
          </a:xfrm>
          <a:prstGeom prst="rect">
            <a:avLst/>
          </a:prstGeom>
          <a:solidFill>
            <a:srgbClr val="FDE3CF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1A1A1A"/>
                </a:solidFill>
              </a:rPr>
              <a:t>Convergem em um ponto: o custo não é só aritmético, depende de memória, cache e atualização da estrutura</a:t>
            </a:r>
          </a:p>
        </p:txBody>
      </p:sp>
      <p:sp>
        <p:nvSpPr>
          <p:cNvPr id="82" name="Fonte"/>
          <p:cNvSpPr txBox="1"/>
          <p:nvPr/>
        </p:nvSpPr>
        <p:spPr>
          <a:xfrm>
            <a:off x="731520" y="5850000"/>
            <a:ext cx="107899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595959"/>
                </a:solidFill>
              </a:rPr>
              <a:t>Fonte: artigo do grupo (Síntese crítica)</a:t>
            </a:r>
          </a:p>
        </p:txBody>
      </p:sp>
      <p:pic>
        <p:nvPicPr>
          <p:cNvPr id="9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54D3309-5FEC-4608-9B04-76EE33AD2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372" y="6364556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E2938B9C-8E3E-482A-B58A-79A3496C7310}"/>
              </a:ext>
            </a:extLst>
          </p:cNvPr>
          <p:cNvSpPr/>
          <p:nvPr/>
        </p:nvSpPr>
        <p:spPr>
          <a:xfrm>
            <a:off x="3688558" y="6283427"/>
            <a:ext cx="8383587" cy="56548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68C4A0C1-469D-4EAD-AB7D-62A2F24CA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2649" y="6446538"/>
            <a:ext cx="8200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COMPUTABILIDADE E COMPLEXIDADE DE ALGORITMOS</a:t>
            </a:r>
            <a:r>
              <a:rPr lang="pt-BR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– </a:t>
            </a:r>
            <a:r>
              <a:rPr lang="pt-BR" sz="10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Grupo 8</a:t>
            </a:r>
            <a:endParaRPr lang="pt-BR" altLang="pt-BR" sz="1200" b="1" dirty="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9065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ítulo"/>
          <p:cNvSpPr txBox="1"/>
          <p:nvPr/>
        </p:nvSpPr>
        <p:spPr>
          <a:xfrm>
            <a:off x="640080" y="411480"/>
            <a:ext cx="74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1A1A1A"/>
                </a:solidFill>
              </a:rPr>
              <a:t>Conclusão</a:t>
            </a:r>
          </a:p>
        </p:txBody>
      </p:sp>
      <p:sp>
        <p:nvSpPr>
          <p:cNvPr id="84" name="Apresentador"/>
          <p:cNvSpPr txBox="1"/>
          <p:nvPr/>
        </p:nvSpPr>
        <p:spPr>
          <a:xfrm>
            <a:off x="8200000" y="520000"/>
            <a:ext cx="335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595959"/>
                </a:solidFill>
              </a:rPr>
              <a:t>Apresenta: Augusto</a:t>
            </a:r>
          </a:p>
        </p:txBody>
      </p:sp>
      <p:sp>
        <p:nvSpPr>
          <p:cNvPr id="85" name="Frase"/>
          <p:cNvSpPr txBox="1"/>
          <p:nvPr/>
        </p:nvSpPr>
        <p:spPr>
          <a:xfrm>
            <a:off x="731520" y="1100000"/>
            <a:ext cx="1078992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 dirty="0">
                <a:solidFill>
                  <a:schemeClr val="accent1">
                    <a:lumMod val="50000"/>
                  </a:schemeClr>
                </a:solidFill>
              </a:rPr>
              <a:t>Não há estrutura vencedora absoluta</a:t>
            </a:r>
          </a:p>
        </p:txBody>
      </p:sp>
      <p:sp>
        <p:nvSpPr>
          <p:cNvPr id="86" name="Cabeçalho Z-buffer"/>
          <p:cNvSpPr/>
          <p:nvPr/>
        </p:nvSpPr>
        <p:spPr>
          <a:xfrm>
            <a:off x="731520" y="1850000"/>
            <a:ext cx="5194960" cy="60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solidFill>
                  <a:schemeClr val="bg1"/>
                </a:solidFill>
              </a:rPr>
              <a:t>Z-buffer</a:t>
            </a:r>
          </a:p>
        </p:txBody>
      </p:sp>
      <p:sp>
        <p:nvSpPr>
          <p:cNvPr id="87" name="Corpo Z-buffer"/>
          <p:cNvSpPr/>
          <p:nvPr/>
        </p:nvSpPr>
        <p:spPr>
          <a:xfrm>
            <a:off x="731520" y="2450000"/>
            <a:ext cx="5194960" cy="17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137160" rIns="137160" bIns="9144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pt-BR" sz="2400" dirty="0">
                <a:solidFill>
                  <a:srgbClr val="1A1A1A"/>
                </a:solidFill>
              </a:rPr>
              <a:t>Acesso regular</a:t>
            </a:r>
          </a:p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pt-BR" sz="2400" dirty="0">
                <a:solidFill>
                  <a:srgbClr val="1A1A1A"/>
                </a:solidFill>
              </a:rPr>
              <a:t>Custo cresce com a resolução</a:t>
            </a:r>
          </a:p>
        </p:txBody>
      </p:sp>
      <p:sp>
        <p:nvSpPr>
          <p:cNvPr id="88" name="Cabeçalho BVH"/>
          <p:cNvSpPr/>
          <p:nvPr/>
        </p:nvSpPr>
        <p:spPr>
          <a:xfrm>
            <a:off x="6326480" y="1850000"/>
            <a:ext cx="5194960" cy="60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solidFill>
                  <a:schemeClr val="bg1"/>
                </a:solidFill>
              </a:rPr>
              <a:t>BVH</a:t>
            </a:r>
          </a:p>
        </p:txBody>
      </p:sp>
      <p:sp>
        <p:nvSpPr>
          <p:cNvPr id="89" name="Corpo BVH"/>
          <p:cNvSpPr/>
          <p:nvPr/>
        </p:nvSpPr>
        <p:spPr>
          <a:xfrm>
            <a:off x="6326480" y="2450000"/>
            <a:ext cx="5194960" cy="17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137160" rIns="137160" bIns="9144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pt-BR" sz="2400" dirty="0">
                <a:solidFill>
                  <a:srgbClr val="1A1A1A"/>
                </a:solidFill>
              </a:rPr>
              <a:t>Reduz o custo de consulta</a:t>
            </a:r>
          </a:p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pt-BR" sz="2400" dirty="0">
                <a:solidFill>
                  <a:srgbClr val="1A1A1A"/>
                </a:solidFill>
              </a:rPr>
              <a:t>Depende de memória, cache e atualização</a:t>
            </a:r>
          </a:p>
        </p:txBody>
      </p:sp>
      <p:sp>
        <p:nvSpPr>
          <p:cNvPr id="90" name="Destaque"/>
          <p:cNvSpPr/>
          <p:nvPr/>
        </p:nvSpPr>
        <p:spPr>
          <a:xfrm>
            <a:off x="731520" y="4300000"/>
            <a:ext cx="10789920" cy="1000000"/>
          </a:xfrm>
          <a:prstGeom prst="rect">
            <a:avLst/>
          </a:prstGeom>
          <a:solidFill>
            <a:srgbClr val="FDE3CF"/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solidFill>
                  <a:srgbClr val="5A2A00"/>
                </a:solidFill>
              </a:rPr>
              <a:t>Ponto de virada: não definido na literatura</a:t>
            </a:r>
          </a:p>
        </p:txBody>
      </p:sp>
      <p:sp>
        <p:nvSpPr>
          <p:cNvPr id="91" name="Fonte"/>
          <p:cNvSpPr txBox="1"/>
          <p:nvPr/>
        </p:nvSpPr>
        <p:spPr>
          <a:xfrm>
            <a:off x="731520" y="5850000"/>
            <a:ext cx="107899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595959"/>
                </a:solidFill>
              </a:rPr>
              <a:t>Fonte: artigo do grupo (Considerações finais)</a:t>
            </a:r>
          </a:p>
        </p:txBody>
      </p:sp>
      <p:pic>
        <p:nvPicPr>
          <p:cNvPr id="9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54D3309-5FEC-4608-9B04-76EE33AD2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372" y="6364556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E2938B9C-8E3E-482A-B58A-79A3496C7310}"/>
              </a:ext>
            </a:extLst>
          </p:cNvPr>
          <p:cNvSpPr/>
          <p:nvPr/>
        </p:nvSpPr>
        <p:spPr>
          <a:xfrm>
            <a:off x="3688558" y="6283427"/>
            <a:ext cx="8383587" cy="56548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68C4A0C1-469D-4EAD-AB7D-62A2F24CA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2649" y="6446538"/>
            <a:ext cx="8200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COMPUTABILIDADE E COMPLEXIDADE DE ALGORITMOS</a:t>
            </a:r>
            <a:r>
              <a:rPr lang="pt-BR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– </a:t>
            </a:r>
            <a:r>
              <a:rPr lang="pt-BR" sz="10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Grupo 8</a:t>
            </a:r>
            <a:endParaRPr lang="pt-BR" altLang="pt-BR" sz="1200" b="1" dirty="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9065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ítulo"/>
          <p:cNvSpPr txBox="1"/>
          <p:nvPr/>
        </p:nvSpPr>
        <p:spPr>
          <a:xfrm>
            <a:off x="640080" y="411480"/>
            <a:ext cx="74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1A1A1A"/>
                </a:solidFill>
              </a:rPr>
              <a:t>Limites e próximo passo</a:t>
            </a:r>
          </a:p>
        </p:txBody>
      </p:sp>
      <p:sp>
        <p:nvSpPr>
          <p:cNvPr id="93" name="Apresentador"/>
          <p:cNvSpPr txBox="1"/>
          <p:nvPr/>
        </p:nvSpPr>
        <p:spPr>
          <a:xfrm>
            <a:off x="8200000" y="520000"/>
            <a:ext cx="335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595959"/>
                </a:solidFill>
              </a:rPr>
              <a:t>Apresenta: Augusto</a:t>
            </a:r>
          </a:p>
        </p:txBody>
      </p:sp>
      <p:sp>
        <p:nvSpPr>
          <p:cNvPr id="94" name="Cabeçalho Limites"/>
          <p:cNvSpPr/>
          <p:nvPr/>
        </p:nvSpPr>
        <p:spPr>
          <a:xfrm>
            <a:off x="731520" y="1150000"/>
            <a:ext cx="5194960" cy="60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solidFill>
                  <a:schemeClr val="bg1"/>
                </a:solidFill>
              </a:rPr>
              <a:t>Limites</a:t>
            </a:r>
          </a:p>
        </p:txBody>
      </p:sp>
      <p:sp>
        <p:nvSpPr>
          <p:cNvPr id="95" name="Corpo Limites"/>
          <p:cNvSpPr/>
          <p:nvPr/>
        </p:nvSpPr>
        <p:spPr>
          <a:xfrm>
            <a:off x="731520" y="1750000"/>
            <a:ext cx="5194960" cy="36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137160" rIns="137160" bIns="9144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pt-BR" sz="2400" dirty="0">
                <a:solidFill>
                  <a:srgbClr val="1A1A1A"/>
                </a:solidFill>
              </a:rPr>
              <a:t>Apenas 5 estudos</a:t>
            </a:r>
          </a:p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pt-BR" sz="2400" dirty="0">
                <a:solidFill>
                  <a:srgbClr val="1A1A1A"/>
                </a:solidFill>
              </a:rPr>
              <a:t>Vários tratam de iluminação global e sombras</a:t>
            </a:r>
          </a:p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pt-BR" sz="2400" dirty="0">
                <a:solidFill>
                  <a:srgbClr val="1A1A1A"/>
                </a:solidFill>
              </a:rPr>
              <a:t>B-KD e octree são parentes da BVH</a:t>
            </a:r>
          </a:p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pt-BR" sz="2400" dirty="0">
                <a:solidFill>
                  <a:srgbClr val="1A1A1A"/>
                </a:solidFill>
              </a:rPr>
              <a:t>Nenhum usa RT Cores</a:t>
            </a:r>
          </a:p>
        </p:txBody>
      </p:sp>
      <p:sp>
        <p:nvSpPr>
          <p:cNvPr id="96" name="Cabeçalho Próximo passo"/>
          <p:cNvSpPr/>
          <p:nvPr/>
        </p:nvSpPr>
        <p:spPr>
          <a:xfrm>
            <a:off x="6326480" y="1150000"/>
            <a:ext cx="5194960" cy="60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lIns="137160" tIns="91440" rIns="137160" bIns="9144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solidFill>
                  <a:schemeClr val="bg1"/>
                </a:solidFill>
              </a:rPr>
              <a:t>Próximo passo</a:t>
            </a:r>
          </a:p>
        </p:txBody>
      </p:sp>
      <p:sp>
        <p:nvSpPr>
          <p:cNvPr id="97" name="Corpo Próximo passo"/>
          <p:cNvSpPr/>
          <p:nvPr/>
        </p:nvSpPr>
        <p:spPr>
          <a:xfrm>
            <a:off x="6326480" y="1750000"/>
            <a:ext cx="5194960" cy="36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137160" tIns="137160" rIns="137160" bIns="91440" anchor="t">
            <a:noAutofit/>
          </a:bodyPr>
          <a:lstStyle/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pt-BR" sz="2400" dirty="0">
                <a:solidFill>
                  <a:srgbClr val="1A1A1A"/>
                </a:solidFill>
              </a:rPr>
              <a:t>Experimento no mesmo hardware, de 1080p a 4K</a:t>
            </a:r>
          </a:p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pt-BR" sz="2400" dirty="0">
                <a:solidFill>
                  <a:srgbClr val="1A1A1A"/>
                </a:solidFill>
              </a:rPr>
              <a:t>Escalar o número de triângulos</a:t>
            </a:r>
          </a:p>
          <a:p>
            <a:pPr marL="342900" indent="-342900" algn="l"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pt-BR" sz="2400" dirty="0">
                <a:solidFill>
                  <a:srgbClr val="1A1A1A"/>
                </a:solidFill>
              </a:rPr>
              <a:t>Incluir o tempo de construção ou atualização da árvore</a:t>
            </a:r>
          </a:p>
        </p:txBody>
      </p:sp>
      <p:sp>
        <p:nvSpPr>
          <p:cNvPr id="98" name="Fonte"/>
          <p:cNvSpPr txBox="1"/>
          <p:nvPr/>
        </p:nvSpPr>
        <p:spPr>
          <a:xfrm>
            <a:off x="731520" y="5850000"/>
            <a:ext cx="1078992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595959"/>
                </a:solidFill>
              </a:rPr>
              <a:t>Fonte: artigo do grupo (Síntese crítica e Considerações finais)</a:t>
            </a:r>
          </a:p>
        </p:txBody>
      </p:sp>
      <p:pic>
        <p:nvPicPr>
          <p:cNvPr id="9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54D3309-5FEC-4608-9B04-76EE33AD2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372" y="6364556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E2938B9C-8E3E-482A-B58A-79A3496C7310}"/>
              </a:ext>
            </a:extLst>
          </p:cNvPr>
          <p:cNvSpPr/>
          <p:nvPr/>
        </p:nvSpPr>
        <p:spPr>
          <a:xfrm>
            <a:off x="3688558" y="6283427"/>
            <a:ext cx="8383587" cy="56548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68C4A0C1-469D-4EAD-AB7D-62A2F24CA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2649" y="6446538"/>
            <a:ext cx="8200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COMPUTABILIDADE E COMPLEXIDADE DE ALGORITMOS</a:t>
            </a:r>
            <a:r>
              <a:rPr lang="pt-BR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– </a:t>
            </a:r>
            <a:r>
              <a:rPr lang="pt-BR" sz="10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Grupo 8</a:t>
            </a:r>
            <a:endParaRPr lang="pt-BR" altLang="pt-BR" sz="1200" b="1" dirty="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9065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ítulo"/>
          <p:cNvSpPr txBox="1"/>
          <p:nvPr/>
        </p:nvSpPr>
        <p:spPr>
          <a:xfrm>
            <a:off x="640080" y="411480"/>
            <a:ext cx="74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1A1A1A"/>
                </a:solidFill>
              </a:rPr>
              <a:t>Referências</a:t>
            </a:r>
          </a:p>
        </p:txBody>
      </p:sp>
      <p:sp>
        <p:nvSpPr>
          <p:cNvPr id="100" name="Referências"/>
          <p:cNvSpPr txBox="1"/>
          <p:nvPr/>
        </p:nvSpPr>
        <p:spPr>
          <a:xfrm>
            <a:off x="731520" y="1150000"/>
            <a:ext cx="10789920" cy="4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400" dirty="0">
                <a:solidFill>
                  <a:srgbClr val="1A1A1A"/>
                </a:solidFill>
              </a:rPr>
              <a:t>CRASSIN, C. et al. Interactive indirect illumination using voxel cone tracing. </a:t>
            </a:r>
            <a:r>
              <a:rPr lang="pt-BR" sz="1400" b="1" dirty="0">
                <a:solidFill>
                  <a:srgbClr val="1A1A1A"/>
                </a:solidFill>
              </a:rPr>
              <a:t>Computer Graphics Forum</a:t>
            </a:r>
            <a:r>
              <a:rPr lang="pt-BR" sz="1400" dirty="0">
                <a:solidFill>
                  <a:srgbClr val="1A1A1A"/>
                </a:solidFill>
              </a:rPr>
              <a:t>, [S. l.], v. 30, n. 7, p. 1921-1930, 2011. DOI: https://doi.org/10.1111/j.1467-8659.2011.02063.x.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400" dirty="0">
                <a:solidFill>
                  <a:srgbClr val="1A1A1A"/>
                </a:solidFill>
              </a:rPr>
              <a:t>LAMBRU, C. et al. Comparative analysis of real-time global illumination techniques in current game engines. </a:t>
            </a:r>
            <a:r>
              <a:rPr lang="pt-BR" sz="1400" b="1" dirty="0">
                <a:solidFill>
                  <a:srgbClr val="1A1A1A"/>
                </a:solidFill>
              </a:rPr>
              <a:t>IEEE Access</a:t>
            </a:r>
            <a:r>
              <a:rPr lang="pt-BR" sz="1400" dirty="0">
                <a:solidFill>
                  <a:srgbClr val="1A1A1A"/>
                </a:solidFill>
              </a:rPr>
              <a:t>, [S. l.], v. 9, p. 125158-125183, 2021. DOI: https://doi.org/10.1109/ACCESS.2021.3109663.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400" dirty="0">
                <a:solidFill>
                  <a:srgbClr val="1A1A1A"/>
                </a:solidFill>
              </a:rPr>
              <a:t>RITSCHEL, T. et al. The state of the art in interactive global illumination. </a:t>
            </a:r>
            <a:r>
              <a:rPr lang="pt-BR" sz="1400" b="1" dirty="0">
                <a:solidFill>
                  <a:srgbClr val="1A1A1A"/>
                </a:solidFill>
              </a:rPr>
              <a:t>Computer Graphics Forum</a:t>
            </a:r>
            <a:r>
              <a:rPr lang="pt-BR" sz="1400" dirty="0">
                <a:solidFill>
                  <a:srgbClr val="1A1A1A"/>
                </a:solidFill>
              </a:rPr>
              <a:t>, [S. l.], v. 31, n. 1, p. 160-188, 2012. DOI: https://doi.org/10.1111/j.1467-8659.2012.02093.x.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400" dirty="0">
                <a:solidFill>
                  <a:srgbClr val="1A1A1A"/>
                </a:solidFill>
              </a:rPr>
              <a:t>WOOP, S.; BRUNVAND, E.; SLUSALLEK, P. Estimating performance of a ray-tracing ASIC design. In: IEEE SYMPOSIUM ON INTERACTIVE RAY TRACING, 2006, Salt Lake City. </a:t>
            </a:r>
            <a:r>
              <a:rPr lang="pt-BR" sz="1400" b="1" dirty="0">
                <a:solidFill>
                  <a:srgbClr val="1A1A1A"/>
                </a:solidFill>
              </a:rPr>
              <a:t>Proceedings</a:t>
            </a:r>
            <a:r>
              <a:rPr lang="pt-BR" sz="1400" dirty="0">
                <a:solidFill>
                  <a:srgbClr val="1A1A1A"/>
                </a:solidFill>
              </a:rPr>
              <a:t> [...]. Salt Lake City: IEEE, 2006. p. 7-14. DOI: https://doi.org/10.1109/RT.2006.280209.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pt-BR" sz="1400" dirty="0">
                <a:solidFill>
                  <a:srgbClr val="1A1A1A"/>
                </a:solidFill>
              </a:rPr>
              <a:t>WYMAN, C.; HOETZLEIN, R.; LEFOHN, A. Frustum-traced irregular Z-buffers: fast, sub-pixel accurate hard shadows. </a:t>
            </a:r>
            <a:r>
              <a:rPr lang="pt-BR" sz="1400" b="1" dirty="0">
                <a:solidFill>
                  <a:srgbClr val="1A1A1A"/>
                </a:solidFill>
              </a:rPr>
              <a:t>IEEE Transactions on Visualization and Computer Graphics</a:t>
            </a:r>
            <a:r>
              <a:rPr lang="pt-BR" sz="1400" dirty="0">
                <a:solidFill>
                  <a:srgbClr val="1A1A1A"/>
                </a:solidFill>
              </a:rPr>
              <a:t>, [S. l.], v. 22, n. 10, p. 2249-2261, 2016. DOI: https://doi.org/10.1109/TVCG.2016.2572689.</a:t>
            </a:r>
          </a:p>
        </p:txBody>
      </p:sp>
      <p:pic>
        <p:nvPicPr>
          <p:cNvPr id="9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54D3309-5FEC-4608-9B04-76EE33AD2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372" y="6364556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E2938B9C-8E3E-482A-B58A-79A3496C7310}"/>
              </a:ext>
            </a:extLst>
          </p:cNvPr>
          <p:cNvSpPr/>
          <p:nvPr/>
        </p:nvSpPr>
        <p:spPr>
          <a:xfrm>
            <a:off x="3688558" y="6283427"/>
            <a:ext cx="8383587" cy="56548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68C4A0C1-469D-4EAD-AB7D-62A2F24CA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2649" y="6446538"/>
            <a:ext cx="8200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COMPUTABILIDADE E COMPLEXIDADE DE ALGORITMOS</a:t>
            </a:r>
            <a:r>
              <a:rPr lang="pt-BR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– </a:t>
            </a:r>
            <a:r>
              <a:rPr lang="pt-BR" sz="10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Grupo 8</a:t>
            </a:r>
            <a:endParaRPr lang="pt-BR" altLang="pt-BR" sz="1200" b="1" dirty="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9065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1168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Office Theme</vt:lpstr>
      <vt:lpstr>.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Luis Ricardo de Oliveira</dc:creator>
  <cp:keywords/>
  <dc:description>generated using python-pptx</dc:description>
  <cp:lastModifiedBy>RENAN veras</cp:lastModifiedBy>
  <cp:revision>13</cp:revision>
  <dcterms:created xsi:type="dcterms:W3CDTF">2013-01-27T09:14:16Z</dcterms:created>
  <dcterms:modified xsi:type="dcterms:W3CDTF">2026-09-23T22:42:53Z</dcterms:modified>
  <cp:category/>
</cp:coreProperties>
</file>